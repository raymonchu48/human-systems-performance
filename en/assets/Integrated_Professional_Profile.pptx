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5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ON A. CURBALAN" userId="538114d0d9573049" providerId="LiveId" clId="{76357D2F-4B9C-48E8-BD12-AA0CE24AAF2C}"/>
    <pc:docChg chg="modSld">
      <pc:chgData name="RAMON A. CURBALAN" userId="538114d0d9573049" providerId="LiveId" clId="{76357D2F-4B9C-48E8-BD12-AA0CE24AAF2C}" dt="2026-10-12T10:58:47.569" v="6" actId="1076"/>
      <pc:docMkLst>
        <pc:docMk/>
      </pc:docMkLst>
      <pc:sldChg chg="modSp mod">
        <pc:chgData name="RAMON A. CURBALAN" userId="538114d0d9573049" providerId="LiveId" clId="{76357D2F-4B9C-48E8-BD12-AA0CE24AAF2C}" dt="2026-10-12T10:58:47.569" v="6" actId="1076"/>
        <pc:sldMkLst>
          <pc:docMk/>
          <pc:sldMk cId="0" sldId="261"/>
        </pc:sldMkLst>
        <pc:spChg chg="mod">
          <ac:chgData name="RAMON A. CURBALAN" userId="538114d0d9573049" providerId="LiveId" clId="{76357D2F-4B9C-48E8-BD12-AA0CE24AAF2C}" dt="2026-10-12T10:58:29.916" v="3" actId="14100"/>
          <ac:spMkLst>
            <pc:docMk/>
            <pc:sldMk cId="0" sldId="261"/>
            <ac:spMk id="31" creationId="{00000000-0000-0000-0000-000000000000}"/>
          </ac:spMkLst>
        </pc:spChg>
        <pc:spChg chg="mod">
          <ac:chgData name="RAMON A. CURBALAN" userId="538114d0d9573049" providerId="LiveId" clId="{76357D2F-4B9C-48E8-BD12-AA0CE24AAF2C}" dt="2026-10-12T10:58:35.895" v="4" actId="14100"/>
          <ac:spMkLst>
            <pc:docMk/>
            <pc:sldMk cId="0" sldId="261"/>
            <ac:spMk id="35" creationId="{00000000-0000-0000-0000-000000000000}"/>
          </ac:spMkLst>
        </pc:spChg>
        <pc:spChg chg="mod">
          <ac:chgData name="RAMON A. CURBALAN" userId="538114d0d9573049" providerId="LiveId" clId="{76357D2F-4B9C-48E8-BD12-AA0CE24AAF2C}" dt="2026-10-12T10:58:41.205" v="5" actId="1076"/>
          <ac:spMkLst>
            <pc:docMk/>
            <pc:sldMk cId="0" sldId="261"/>
            <ac:spMk id="39" creationId="{00000000-0000-0000-0000-000000000000}"/>
          </ac:spMkLst>
        </pc:spChg>
        <pc:spChg chg="mod">
          <ac:chgData name="RAMON A. CURBALAN" userId="538114d0d9573049" providerId="LiveId" clId="{76357D2F-4B9C-48E8-BD12-AA0CE24AAF2C}" dt="2026-10-12T10:58:47.569" v="6" actId="1076"/>
          <ac:spMkLst>
            <pc:docMk/>
            <pc:sldMk cId="0" sldId="261"/>
            <ac:spMk id="4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Arc 8"/>
          <p:cNvSpPr/>
          <p:nvPr/>
        </p:nvSpPr>
        <p:spPr>
          <a:xfrm>
            <a:off x="-868680" y="685800"/>
            <a:ext cx="2011680" cy="3566160"/>
          </a:xfrm>
          <a:prstGeom prst="arc">
            <a:avLst/>
          </a:prstGeom>
          <a:noFill/>
          <a:ln w="1397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rc 9"/>
          <p:cNvSpPr/>
          <p:nvPr/>
        </p:nvSpPr>
        <p:spPr>
          <a:xfrm>
            <a:off x="-548640" y="932688"/>
            <a:ext cx="141732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rc 10"/>
          <p:cNvSpPr/>
          <p:nvPr/>
        </p:nvSpPr>
        <p:spPr>
          <a:xfrm>
            <a:off x="-320040" y="3977639"/>
            <a:ext cx="2788920" cy="114300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1170432"/>
            <a:ext cx="4663440" cy="6400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4400" b="1" i="0">
                <a:solidFill>
                  <a:srgbClr val="1F2B34"/>
                </a:solidFill>
                <a:latin typeface="Times New Roman"/>
              </a:defRPr>
            </a:pPr>
            <a:r>
              <a:t>INTEGRATED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84248"/>
            <a:ext cx="5669280" cy="6400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4200" b="1" i="0">
                <a:solidFill>
                  <a:srgbClr val="1F2B34"/>
                </a:solidFill>
                <a:latin typeface="Times New Roman"/>
              </a:defRPr>
            </a:pPr>
            <a:r>
              <a:t>PROFESSIONAL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944368"/>
            <a:ext cx="4480560" cy="59436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4100" b="0" i="1">
                <a:solidFill>
                  <a:srgbClr val="1F2B34"/>
                </a:solidFill>
                <a:latin typeface="Times New Roman"/>
              </a:defRPr>
            </a:pPr>
            <a:r>
              <a:t>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4096512"/>
            <a:ext cx="6400800" cy="6400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HOSPITALITY &amp; OPERATIONS  ·  TECHNOLOGY &amp; SYSTEMS  ·</a:t>
            </a:r>
          </a:p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SPORT, NUTRITION &amp;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645152"/>
            <a:ext cx="475488" cy="16459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53312" y="4736592"/>
            <a:ext cx="5715000" cy="6400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D6972"/>
                </a:solidFill>
                <a:latin typeface="Aptos"/>
              </a:defRPr>
            </a:pPr>
            <a:r>
              <a:rPr sz="1280" dirty="0" lang="en-GB"/>
              <a:t>A multidisciplinary profile connecting operations management,</a:t>
            </a:r>
            <a:r>
              <a:rPr sz="1280" dirty="0" err="1" lang="en-GB"/>
              <a:t/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  <a:r>
              <a:rPr sz="1280" dirty="0" err="1" lang="en-GB"/>
              <a:t/>
            </a:r>
            <a:endParaRPr sz="1280" dirty="0"/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D6972"/>
                </a:solidFill>
                <a:latin typeface="Aptos"/>
              </a:defRPr>
            </a:pPr>
            <a:r>
              <a:rPr sz="1280" dirty="0" err="1" lang="en-GB"/>
              <a:t>applied technology and human performance through one approach:</a:t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5D6972"/>
                </a:solidFill>
                <a:latin typeface="Aptos"/>
              </a:defRPr>
            </a:pPr>
            <a:r>
              <a:rPr sz="1280" dirty="0" err="1" lang="en-GB"/>
              <a:t>plan, execute, measure and optimise.</a:t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  <a:r>
              <a:rPr sz="1280" dirty="0" err="1" lang="en-GB"/>
              <a:t/>
            </a:r>
            <a:r>
              <a:rPr sz="1280" dirty="0" lang="en-GB"/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353312" y="5907024"/>
            <a:ext cx="635508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89888" y="5605272"/>
            <a:ext cx="539496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0"/>
              </a:spcAft>
              <a:defRPr sz="1400" b="0" i="0">
                <a:solidFill>
                  <a:srgbClr val="1F2B34"/>
                </a:solidFill>
                <a:latin typeface="Aptos"/>
              </a:defRPr>
            </a:pPr>
            <a:r>
              <a:rPr sz="1260" lang="en-GB"/>
              <a:t>23+ years of professional experience    |    Mallorca, Spain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9792" y="502920"/>
            <a:ext cx="3511296" cy="5321808"/>
          </a:xfrm>
          <a:prstGeom prst="roundRect">
            <a:avLst>
              <a:gd name="adj" fmla="val 35000"/>
            </a:avLst>
          </a:prstGeom>
          <a:solidFill>
            <a:srgbClr val="F7F6F2"/>
          </a:solidFill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rc 21"/>
          <p:cNvSpPr/>
          <p:nvPr/>
        </p:nvSpPr>
        <p:spPr>
          <a:xfrm>
            <a:off x="7187184" y="420624"/>
            <a:ext cx="4023360" cy="26974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62272" y="6016752"/>
            <a:ext cx="9144" cy="438912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69480" y="6016752"/>
            <a:ext cx="9144" cy="438912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62456" y="5989320"/>
            <a:ext cx="548640" cy="21945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500" b="0" i="0">
                <a:solidFill>
                  <a:srgbClr val="A8833B"/>
                </a:solidFill>
                <a:latin typeface="Times New Roman"/>
              </a:defRPr>
            </a:pPr>
            <a:r>
              <a:rPr sz="2000" dirty="0" lang="en-GB"/>
              <a:t>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11096" y="6197346"/>
            <a:ext cx="896112" cy="4800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53312" y="6272784"/>
            <a:ext cx="17373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F2B34"/>
                </a:solidFill>
                <a:latin typeface="Times New Roman"/>
              </a:defRPr>
            </a:pPr>
            <a:r>
              <a:rPr sz="1400" dirty="0" lang="en-GB"/>
              <a:t>HOSPITALITY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6492240"/>
            <a:ext cx="2468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rPr sz="880" dirty="0" lang="en-GB"/>
              <a:t>F&amp;B · Events · Banqueting ·</a:t>
            </a:r>
            <a:r>
              <a:rPr sz="880" dirty="0" err="1" lang="en-GB"/>
              <a:t/>
            </a:r>
            <a:r>
              <a:rPr sz="880" dirty="0" lang="en-GB"/>
              <a:t/>
            </a:r>
            <a:r>
              <a:rPr sz="880" dirty="0" err="1" lang="en-GB"/>
              <a:t/>
            </a:r>
            <a:r>
              <a:rPr sz="880" dirty="0" lang="en-GB"/>
              <a:t/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rPr sz="880" dirty="0" err="1" lang="en-GB"/>
              <a:t>Operations · KPIs</a:t>
            </a:r>
            <a:r>
              <a:rPr sz="880" dirty="0" lang="en-GB"/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6016752"/>
            <a:ext cx="548640" cy="21945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500" b="0" i="0">
                <a:solidFill>
                  <a:srgbClr val="5E8FAE"/>
                </a:solidFill>
                <a:latin typeface="Times New Roman"/>
              </a:defRPr>
            </a:pPr>
            <a:r>
              <a:rPr sz="2000" dirty="0" lang="en-GB"/>
              <a:t>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45608" y="6190487"/>
            <a:ext cx="905256" cy="54865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90871" y="6272784"/>
            <a:ext cx="17373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F2B34"/>
                </a:solidFill>
                <a:latin typeface="Times New Roman"/>
              </a:defRPr>
            </a:pPr>
            <a:r>
              <a:rPr sz="1400" dirty="0" lang="en-GB"/>
              <a:t>TECHNOLOGY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6492240"/>
            <a:ext cx="2468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rPr sz="880" lang="en-GB"/>
              <a:t>Systems · Networks · Security ·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rPr sz="880" lang="en-GB"/>
              <a:t>AI ·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6016751"/>
            <a:ext cx="548640" cy="21945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500" b="0" i="0">
                <a:solidFill>
                  <a:srgbClr val="7A9870"/>
                </a:solidFill>
                <a:latin typeface="Times New Roman"/>
              </a:defRPr>
            </a:pPr>
            <a:r>
              <a:rPr sz="2000" dirty="0" lang="en-GB"/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6208775"/>
            <a:ext cx="914400" cy="45719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25512" y="6291072"/>
            <a:ext cx="146304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F2B34"/>
                </a:solidFill>
                <a:latin typeface="Times New Roman"/>
              </a:defRPr>
            </a:pPr>
            <a:r>
              <a:rPr sz="1400" dirty="0" lang="en-GB"/>
              <a:t>SPORT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4656" y="6492240"/>
            <a:ext cx="256032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rPr sz="880" lang="en-GB"/>
              <a:t>Training · Nutrition ·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rPr sz="880" lang="en-GB"/>
              <a:t>Habits · Well-being</a:t>
            </a:r>
          </a:p>
        </p:txBody>
      </p:sp>
      <p:pic>
        <p:nvPicPr>
          <p:cNvPr id="37" name="Picture 36" descr="arch_profile_adap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6" y="539496"/>
            <a:ext cx="3456432" cy="5285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Professional profile and career positioning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874519"/>
            <a:ext cx="10104120" cy="105156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874519"/>
            <a:ext cx="1010412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200253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331720"/>
            <a:ext cx="9829800" cy="521207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60" b="0" i="0">
                <a:solidFill>
                  <a:srgbClr val="5D6972"/>
                </a:solidFill>
                <a:latin typeface="Aptos"/>
              </a:defRPr>
            </a:pPr>
            <a:r>
              <a:t>Ramón Alberto Curbalán Vega brings together three complementary specialisms: hospitality and F&amp;B operations management, applied technology and systems, and sport, nutrition and performance. He connects people, processes, data and delivery to turn objectives into measurable results.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54680"/>
            <a:ext cx="3246120" cy="17830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154680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2826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HOSPITALITY &amp;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611880"/>
            <a:ext cx="2971800" cy="12527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23+ years of experience, including 5★ and 5★ Grand Luxury hotels. F&amp;B, banqueting, events, restaurants, logistics, service, purchasing, inventory and team leadership.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3154680"/>
            <a:ext cx="3246120" cy="17830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0" y="3154680"/>
            <a:ext cx="3246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61104" y="32826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TECHNOLOGY &amp;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3611880"/>
            <a:ext cx="2971800" cy="12527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Training and projects in systems, networks, security, databases, Big Data, AI, web development, automation and agile management.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3154680"/>
            <a:ext cx="3246120" cy="17830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3154680"/>
            <a:ext cx="3246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0104" y="32826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SPORT &amp;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3611880"/>
            <a:ext cx="2971800" cy="12527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Personal training, group classes, nutrition, swimming, well-being and the design of health and performance experiences.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212080"/>
            <a:ext cx="10104120" cy="8686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5212080"/>
            <a:ext cx="1010412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534009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CURRENT POSITIONING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5669280"/>
            <a:ext cx="9829800" cy="3383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80" b="0" i="0">
                <a:solidFill>
                  <a:srgbClr val="5D6972"/>
                </a:solidFill>
                <a:latin typeface="Aptos"/>
              </a:defRPr>
            </a:pPr>
            <a:r>
              <a:t>Current role: FB Banquet Manager – Capvermell Gran Hotel S.L.U. (March 2025 – present). · Target areas: F&amp;B management / Banqueting &amp; Events / Operations; Sports management / Coordination; Applied technology and hybrid transformation roles.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Spain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HOSPITALITY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HOSPITALITY, F&amp;B AND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Operations management, banqueting, restaurants and customer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828800"/>
            <a:ext cx="10104120" cy="1024128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828800"/>
            <a:ext cx="10104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195681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Main specialism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286000"/>
            <a:ext cx="9829800" cy="3383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30" b="0" i="0">
                <a:solidFill>
                  <a:srgbClr val="5D6972"/>
                </a:solidFill>
                <a:latin typeface="Aptos"/>
              </a:defRPr>
            </a:pPr>
            <a:r>
              <a:rPr dirty="0" err="1" lang="en-GB"/>
              <a:t>An established career in premium hospitality, particularly F&amp;B, banqueting and events. The focus is on reliable operations: precise planning, staffing matched to demand, consistent service, financial control and coordination across kitchen, reception, events, purchasing and operations.</a:t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26080"/>
            <a:ext cx="3246120" cy="1078992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926080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0540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50" b="1" i="0">
                <a:solidFill>
                  <a:srgbClr val="1F2B34"/>
                </a:solidFill>
                <a:latin typeface="Aptos"/>
              </a:defRPr>
            </a:pPr>
            <a:r>
              <a:t>Creating, interpreting and delivering BEOs.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383280"/>
            <a:ext cx="2971800" cy="54864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Layouts, setups, schedules and workflows.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2926080"/>
            <a:ext cx="3246120" cy="1078992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0" y="2926080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61104" y="30540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50" b="1" i="0">
                <a:solidFill>
                  <a:srgbClr val="1F2B34"/>
                </a:solidFill>
                <a:latin typeface="Aptos"/>
              </a:defRPr>
            </a:pPr>
            <a:r>
              <a:rPr dirty="0" err="1" lang="en-GB"/>
              <a:t>Coordinating kitchen, service, events and reception.</a:t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3383280"/>
            <a:ext cx="2971800" cy="439095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endParaRPr lang="es-ES" dirty="0"/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rPr dirty="0" lang="en-GB"/>
              <a:t>Staffing for demand peaks and service ratios.</a:t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233672"/>
            <a:ext cx="3246120" cy="1078992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4233672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" y="4361688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50" b="1" i="0">
                <a:solidFill>
                  <a:srgbClr val="1F2B34"/>
                </a:solidFill>
                <a:latin typeface="Aptos"/>
              </a:defRPr>
            </a:pPr>
            <a:r>
              <a:t>Purchasing, inventory, equipment and logistics.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4690872"/>
            <a:ext cx="2971800" cy="439095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endParaRPr lang="es-ES" dirty="0"/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rPr dirty="0" err="1" lang="en-GB"/>
              <a:t>Supervising service and 5★ / 5★ GL standards.</a:t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4233672"/>
            <a:ext cx="3246120" cy="1078992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14800" y="4233672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61104" y="4361688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50" b="1" i="0">
                <a:solidFill>
                  <a:srgbClr val="1F2B34"/>
                </a:solidFill>
                <a:latin typeface="Aptos"/>
              </a:defRPr>
            </a:pPr>
            <a:r>
              <a:rPr dirty="0" err="1" lang="en-GB"/>
              <a:t>Customer service and incident resolution.</a:t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61104" y="4690872"/>
            <a:ext cx="2971800" cy="439095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endParaRPr lang="es-ES" dirty="0"/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rPr dirty="0" err="1" lang="en-GB"/>
              <a:t>Close-out, consumption, productivity and profitability.</a:t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43800" y="2926080"/>
            <a:ext cx="3246120" cy="2386584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543800" y="2926080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90104" y="30540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300" b="1" i="0">
                <a:solidFill>
                  <a:srgbClr val="1F2B34"/>
                </a:solidFill>
                <a:latin typeface="Aptos"/>
              </a:defRPr>
            </a:pPr>
            <a:r>
              <a:t>Operations cycle for events and F&amp;B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0104" y="3383280"/>
            <a:ext cx="2971800" cy="1856231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50" b="0" i="0">
                <a:solidFill>
                  <a:srgbClr val="5D6972"/>
                </a:solidFill>
                <a:latin typeface="Aptos"/>
              </a:defRPr>
            </a:pPr>
            <a:r>
              <a:rPr dirty="0" lang="en-GB"/>
              <a:t>1. PLANNING: objectives, BEO, layout, timing, volumes and risks.</a:t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</a:p>
          <a:p>
            <a:pPr>
              <a:spcAft>
                <a:spcPts val="400"/>
              </a:spcAft>
              <a:defRPr sz="1050" b="0" i="0">
                <a:solidFill>
                  <a:srgbClr val="5D6972"/>
                </a:solidFill>
                <a:latin typeface="Aptos"/>
              </a:defRPr>
            </a:pPr>
            <a:r>
              <a:rPr dirty="0" lang="en-GB"/>
              <a:t>2. RESOURCES: team, equipment, purchasing, stations, bars and BOH.</a:t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</a:p>
          <a:p>
            <a:pPr>
              <a:spcAft>
                <a:spcPts val="400"/>
              </a:spcAft>
              <a:defRPr sz="1050" b="0" i="0">
                <a:solidFill>
                  <a:srgbClr val="5D6972"/>
                </a:solidFill>
                <a:latin typeface="Aptos"/>
              </a:defRPr>
            </a:pPr>
            <a:r>
              <a:rPr dirty="0" lang="en-GB"/>
              <a:t>3. DELIVERY: briefing, service sequence and real-time coordination.</a:t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</a:p>
          <a:p>
            <a:pPr>
              <a:spcAft>
                <a:spcPts val="400"/>
              </a:spcAft>
              <a:defRPr sz="1050" b="0" i="0">
                <a:solidFill>
                  <a:srgbClr val="5D6972"/>
                </a:solidFill>
                <a:latin typeface="Aptos"/>
              </a:defRPr>
            </a:pPr>
            <a:r>
              <a:rPr dirty="0" lang="en-GB"/>
              <a:t>4. MONITORING: quality, timing, consumption, incidents and guest experience.</a:t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</a:p>
          <a:p>
            <a:pPr>
              <a:spcAft>
                <a:spcPts val="400"/>
              </a:spcAft>
              <a:defRPr sz="1050" b="0" i="0">
                <a:solidFill>
                  <a:srgbClr val="5D6972"/>
                </a:solidFill>
                <a:latin typeface="Aptos"/>
              </a:defRPr>
            </a:pPr>
            <a:r>
              <a:rPr dirty="0" lang="en-GB"/>
              <a:t>5. CLOSE-OUT and 6. IMPROVEMENT: inventory, costs, KPIs and lessons learned.</a:t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  <a:r>
              <a:rPr dirty="0" err="1" lang="en-GB"/>
              <a:t/>
            </a:r>
            <a:r>
              <a:rPr dirty="0" lang="en-GB"/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Spain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TECHNOLOGY, SYSTEMS AND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Technical training, applied development and digital transformation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828800"/>
            <a:ext cx="10104120" cy="8686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828800"/>
            <a:ext cx="10104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195681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Applied technology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286000"/>
            <a:ext cx="9829800" cy="3383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30" b="0" i="0">
                <a:solidFill>
                  <a:srgbClr val="5D6972"/>
                </a:solidFill>
                <a:latin typeface="Aptos"/>
              </a:defRPr>
            </a:pPr>
            <a:r>
              <a:t>This specialism combines technical training with real projects that address specific needs: authentication, databases, automation, web applications, security, digital content and deployment.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880360"/>
            <a:ext cx="3246120" cy="1481328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880360"/>
            <a:ext cx="3246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00837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SYSTEMS &amp; NETWORKS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337560"/>
            <a:ext cx="2971800" cy="95097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Departmental networks, virtualisation, addressing, NAT/Bridged, VPN, monitoring and diagnostics.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2880360"/>
            <a:ext cx="3246120" cy="1481328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0" y="2880360"/>
            <a:ext cx="3246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61104" y="300837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3337560"/>
            <a:ext cx="2971800" cy="95097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IT security, Nmap, access best practices, OAuth, permission management and production environments.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880360"/>
            <a:ext cx="3246120" cy="1481328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2880360"/>
            <a:ext cx="3246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0104" y="300837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DATA &amp;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3337560"/>
            <a:ext cx="2971800" cy="95097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Big Data and AI, databases, information analysis, automation and assistants integrated into applications.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17720"/>
            <a:ext cx="10104120" cy="1385316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4617720"/>
            <a:ext cx="10104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474573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350" b="1" i="0">
                <a:solidFill>
                  <a:srgbClr val="1F2B34"/>
                </a:solidFill>
                <a:latin typeface="Aptos"/>
              </a:defRPr>
            </a:pPr>
            <a:r>
              <a:t>Technologies and environments used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074920"/>
            <a:ext cx="9829800" cy="74980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40" b="0" i="0">
                <a:solidFill>
                  <a:srgbClr val="5D6972"/>
                </a:solidFill>
                <a:latin typeface="Aptos"/>
              </a:defRPr>
            </a:pPr>
            <a:r>
              <a:t>DEVELOPMENT: HTML, CSS, JavaScript, Python, FastAPI, SPA/PWA.</a:t>
            </a:r>
          </a:p>
          <a:p>
            <a:pPr>
              <a:spcAft>
                <a:spcPts val="400"/>
              </a:spcAft>
              <a:defRPr sz="1140" b="0" i="0">
                <a:solidFill>
                  <a:srgbClr val="5D6972"/>
                </a:solidFill>
                <a:latin typeface="Aptos"/>
              </a:defRPr>
            </a:pPr>
            <a:r>
              <a:t>DATABASES: PostgreSQL / Supabase, SQLite / SQLAlchemy, MySQL, SQL Server, MongoDB.</a:t>
            </a:r>
          </a:p>
          <a:p>
            <a:pPr>
              <a:spcAft>
                <a:spcPts val="400"/>
              </a:spcAft>
              <a:defRPr sz="1140" b="0" i="0">
                <a:solidFill>
                  <a:srgbClr val="5D6972"/>
                </a:solidFill>
                <a:latin typeface="Aptos"/>
              </a:defRPr>
            </a:pPr>
            <a:r>
              <a:t>INFRASTRUCTURE / CLOUD: Windows, Linux, Kali, virtual machines, Git, GitHub Pages, Vercel, domains and OAuth.</a:t>
            </a:r>
          </a:p>
          <a:p>
            <a:pPr>
              <a:spcAft>
                <a:spcPts val="400"/>
              </a:spcAft>
              <a:defRPr sz="1140" b="0" i="0">
                <a:solidFill>
                  <a:srgbClr val="5D6972"/>
                </a:solidFill>
                <a:latin typeface="Aptos"/>
              </a:defRPr>
            </a:pPr>
            <a:r>
              <a:t>MANAGEMENT: Agile Project Management and Scrum.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Spain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SPORT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SPORT, NUTRITION AND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Training, habits, well-being and 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828800"/>
            <a:ext cx="10104120" cy="8686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828800"/>
            <a:ext cx="10104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195681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Sports specialism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286000"/>
            <a:ext cx="9829800" cy="3383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30" b="0" i="0">
                <a:solidFill>
                  <a:srgbClr val="5D6972"/>
                </a:solidFill>
                <a:latin typeface="Aptos"/>
              </a:defRPr>
            </a:pPr>
            <a:r>
              <a:t>Experience and training in exercise, health and performance, working with individuals and groups of different ages. The approach combines exercise planning, nutrition, habits, progress tracking and motivation.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26080"/>
            <a:ext cx="3246120" cy="150876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926080"/>
            <a:ext cx="3246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0540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383280"/>
            <a:ext cx="2971800" cy="978407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Personal training, functional training, strength, group classes and goal-based planning.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2926080"/>
            <a:ext cx="3246120" cy="150876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0" y="2926080"/>
            <a:ext cx="3246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61104" y="30540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NUTRITION &amp; HABITS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3383280"/>
            <a:ext cx="2971800" cy="978407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Training as a nutrition technician, habit education, progress tracking and integrated plans.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926080"/>
            <a:ext cx="3246120" cy="150876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2926080"/>
            <a:ext cx="3246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0104" y="3054096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GROUPS &amp; AQUATICS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3383280"/>
            <a:ext cx="2971800" cy="978407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0" i="0">
                <a:solidFill>
                  <a:srgbClr val="5D6972"/>
                </a:solidFill>
                <a:latin typeface="Aptos"/>
              </a:defRPr>
            </a:pPr>
            <a:r>
              <a:t>Swimming across age groups, lifeguarding, Pilates, yoga, tai chi and activities for older adults.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81728"/>
            <a:ext cx="10104120" cy="1216152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4681728"/>
            <a:ext cx="10104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4809744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350" b="1" i="0">
                <a:solidFill>
                  <a:srgbClr val="1F2B34"/>
                </a:solidFill>
                <a:latin typeface="Aptos"/>
              </a:defRPr>
            </a:pPr>
            <a:r>
              <a:t>Working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5138928"/>
            <a:ext cx="9829800" cy="6858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t>ASSESS · PLAN · EXECUTE · TRACK · OPTIMISE. Chetesaí Fitness+ puts this specialism into practice through a private nutrition, training and habits platform with a client interface and professional dashboard.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Spain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PROJECTS AND DIGITAL ECOSYSTEM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Personal initiatives connecting the three specialisms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920240"/>
            <a:ext cx="4617720" cy="141732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920240"/>
            <a:ext cx="46177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2048256"/>
            <a:ext cx="43434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50" b="1" i="0">
                <a:solidFill>
                  <a:srgbClr val="1F2B34"/>
                </a:solidFill>
                <a:latin typeface="Aptos"/>
              </a:defRPr>
            </a:pPr>
            <a:r>
              <a:t>CHETESAÍ FITNESS+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377440"/>
            <a:ext cx="4343400" cy="8869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Sport + technology</a:t>
            </a:r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Nutrition, training and habits platform with a professional dashboard, Supabase, OAuth, exercise library, multimedia content and AI assistant.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1920240"/>
            <a:ext cx="4617720" cy="141732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0" y="1920240"/>
            <a:ext cx="46177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32704" y="2048256"/>
            <a:ext cx="43434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50" b="1" i="0">
                <a:solidFill>
                  <a:srgbClr val="1F2B34"/>
                </a:solidFill>
                <a:latin typeface="Aptos"/>
              </a:defRPr>
            </a:pPr>
            <a:r>
              <a:t>OPOSTUDY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2704" y="2377440"/>
            <a:ext cx="4343400" cy="8869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Technology + learning</a:t>
            </a:r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TAI exam preparation app with mock exams, questions, practical exercises, error tracking, statistics and technical content.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11880"/>
            <a:ext cx="4617720" cy="141732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611880"/>
            <a:ext cx="46177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" y="3739896"/>
            <a:ext cx="43434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50" b="1" i="0">
                <a:solidFill>
                  <a:srgbClr val="1F2B34"/>
                </a:solidFill>
                <a:latin typeface="Aptos"/>
              </a:defRPr>
            </a:pPr>
            <a:r>
              <a:t>FARMAGEND 24/7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4069080"/>
            <a:ext cx="4343400" cy="8869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Innovation + automation</a:t>
            </a:r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Hybrid physical and digital centre with automated dispensing, a robotic arm, app, e-commerce, AI and smart inventory.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3611880"/>
            <a:ext cx="4617720" cy="141732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0" y="3611880"/>
            <a:ext cx="46177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32704" y="3739896"/>
            <a:ext cx="43434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50" b="1" i="0">
                <a:solidFill>
                  <a:srgbClr val="1F2B34"/>
                </a:solidFill>
                <a:latin typeface="Aptos"/>
              </a:defRPr>
            </a:pPr>
            <a:r>
              <a:t>CATERING MALLORCA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2704" y="4069080"/>
            <a:ext cx="4343400" cy="8869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Hospitality + events</a:t>
            </a:r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Catering concept for private estates in Mallorca, covering teams, transport, equipment, menus, drinks and branding.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303520"/>
            <a:ext cx="4617720" cy="1220724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5303520"/>
            <a:ext cx="46177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5431536"/>
            <a:ext cx="43434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50" b="1" i="0">
                <a:solidFill>
                  <a:srgbClr val="1F2B34"/>
                </a:solidFill>
                <a:latin typeface="Aptos"/>
              </a:defRPr>
            </a:pPr>
            <a:r>
              <a:t>FITNESS BUS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5760720"/>
            <a:ext cx="4343400" cy="8869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Sport + operations</a:t>
            </a:r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Mobile functional training, Pilates, yoga and older-adult classes with booking, class passes and digital payments.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5303520"/>
            <a:ext cx="4617720" cy="1225296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0" y="5303520"/>
            <a:ext cx="461772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32704" y="5431536"/>
            <a:ext cx="43434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50" b="1" i="0">
                <a:solidFill>
                  <a:srgbClr val="1F2B34"/>
                </a:solidFill>
                <a:latin typeface="Aptos"/>
              </a:defRPr>
            </a:pPr>
            <a:r>
              <a:t>PROFESSIONAL PORTFOLIOS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32704" y="5760720"/>
            <a:ext cx="4343400" cy="8869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Personal brand + technology</a:t>
            </a:r>
          </a:p>
          <a:p>
            <a:pPr>
              <a:spcAft>
                <a:spcPts val="400"/>
              </a:spcAft>
              <a:defRPr sz="1080" b="0" i="0">
                <a:solidFill>
                  <a:srgbClr val="5D6972"/>
                </a:solidFill>
                <a:latin typeface="Aptos"/>
              </a:defRPr>
            </a:pPr>
            <a:r>
              <a:t>Specialist technology, sport and hospitality portfolios, alongside the integrated Human – Systems – Performance portfolio.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651322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6708941"/>
            <a:ext cx="5394960" cy="193899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rPr dirty="0" lang="en-GB"/>
              <a:t>Human · Systems · Performance  |  Mallorca, Spain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TRAINING AND CERTIFICATIONS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Technical foundations, project management, hospitality and sport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828800"/>
            <a:ext cx="10104120" cy="100584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828800"/>
            <a:ext cx="10104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195681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HOSPITALITY AND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286000"/>
            <a:ext cx="9829800" cy="47548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t>HOTR064PO. · HOTR040PO. · Training and equivalencies linked to HOTR0409. · Applied experience in banqueting management, restaurants, events and F&amp;B operations.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63240"/>
            <a:ext cx="10104120" cy="91440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63240"/>
            <a:ext cx="10104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19125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TECHNOLOGY AND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520440"/>
            <a:ext cx="9829800" cy="38404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t>IFCT0410 – Departmental Networks. · IFCT101PO – IT Security. · IFCT159 – Big Data and Artificial Intelligence. · Training in networks, electronics, systems, databases and virtualised environments.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06240"/>
            <a:ext cx="10104120" cy="91440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206240"/>
            <a:ext cx="1010412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" y="4334255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PROJECT MANAGEMENT AND DIGITALISATION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4663440"/>
            <a:ext cx="9829800" cy="38404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t>ADGD347PO – Agile Project Management. · ADG348PO – Agile Project Management / Scrum. · Generación Digital PYMES – EAE, 375 hours. · Academic work in strategic management, Scrum, Kanban and digital transformation.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49240"/>
            <a:ext cx="10104120" cy="91440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5349240"/>
            <a:ext cx="10104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" y="5477255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500" b="1" i="0">
                <a:solidFill>
                  <a:srgbClr val="1F2B34"/>
                </a:solidFill>
                <a:latin typeface="Aptos"/>
              </a:defRPr>
            </a:pPr>
            <a:r>
              <a:t>SPORT, NUTRITION AND WELL-BEING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" y="5806440"/>
            <a:ext cx="9829800" cy="38404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50" b="0" i="0">
                <a:solidFill>
                  <a:srgbClr val="5D6972"/>
                </a:solidFill>
                <a:latin typeface="Aptos"/>
              </a:defRPr>
            </a:pPr>
            <a:r>
              <a:t>Training as a nutrition technician. · Personal trainer. · Fitness studio technician. · Pilates, yoga and tai chi instructor for older adults. · Lifeguard and swimming experience across age groups.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Spain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868680"/>
            <a:ext cx="777240" cy="502920"/>
          </a:xfrm>
          <a:prstGeom prst="roundRect">
            <a:avLst>
              <a:gd name="adj" fmla="val 14000"/>
            </a:avLst>
          </a:prstGeom>
          <a:solidFill>
            <a:srgbClr val="1F2B34"/>
          </a:solidFill>
          <a:ln w="10160"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987552"/>
            <a:ext cx="411480" cy="20116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914400"/>
            <a:ext cx="8046720" cy="310896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200" b="1" i="0">
                <a:solidFill>
                  <a:srgbClr val="1F2B34"/>
                </a:solidFill>
                <a:latin typeface="Aptos"/>
              </a:defRPr>
            </a:pPr>
            <a:r>
              <a:t>METHODOLOGY AND 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243584"/>
            <a:ext cx="8229600" cy="22860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00" b="1" i="0">
                <a:solidFill>
                  <a:srgbClr val="5D6972"/>
                </a:solidFill>
                <a:latin typeface="Aptos"/>
              </a:defRPr>
            </a:pPr>
            <a:r>
              <a:t>Connecting Human – Systems – 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572768"/>
            <a:ext cx="1060704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1828800"/>
            <a:ext cx="10104120" cy="8686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828800"/>
            <a:ext cx="1010412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" y="195681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One approach across three disciplines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2286000"/>
            <a:ext cx="9829800" cy="3383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220" b="0" i="0">
                <a:solidFill>
                  <a:srgbClr val="5D6972"/>
                </a:solidFill>
                <a:latin typeface="Aptos"/>
              </a:defRPr>
            </a:pPr>
            <a:r>
              <a:t>The strength of this profile comes from applying a shared approach across different contexts: understanding people, designing working systems and measuring performance. The three areas of expertise support each other in solving practical problems.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44368"/>
            <a:ext cx="3246120" cy="13258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944368"/>
            <a:ext cx="3246120" cy="32004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" y="3072384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F2B34"/>
                </a:solidFill>
                <a:latin typeface="Aptos"/>
              </a:defRPr>
            </a:pPr>
            <a:r>
              <a:t>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3401568"/>
            <a:ext cx="2971800" cy="7955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80" b="0" i="0">
                <a:solidFill>
                  <a:srgbClr val="5D6972"/>
                </a:solidFill>
                <a:latin typeface="Aptos"/>
              </a:defRPr>
            </a:pPr>
            <a:r>
              <a:t>Leadership, communication, service, customer experience, coaching, motivation and adaptation to individuals and teams.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2944368"/>
            <a:ext cx="3246120" cy="13258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0" y="2944368"/>
            <a:ext cx="3246120" cy="32004"/>
          </a:xfrm>
          <a:prstGeom prst="rect">
            <a:avLst/>
          </a:prstGeom>
          <a:solidFill>
            <a:srgbClr val="5E8FAE"/>
          </a:solidFill>
          <a:ln>
            <a:solidFill>
              <a:srgbClr val="5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61104" y="3072384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F2B34"/>
                </a:solidFill>
                <a:latin typeface="Aptos"/>
              </a:defRPr>
            </a:pPr>
            <a:r>
              <a:t>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1104" y="3401568"/>
            <a:ext cx="2971800" cy="7955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80" b="0" i="0">
                <a:solidFill>
                  <a:srgbClr val="5D6972"/>
                </a:solidFill>
                <a:latin typeface="Aptos"/>
              </a:defRPr>
            </a:pPr>
            <a:r>
              <a:t>Processes, planning, data, technology, security, automation, documentation and control.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2944368"/>
            <a:ext cx="3246120" cy="13258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43800" y="2944368"/>
            <a:ext cx="3246120" cy="32004"/>
          </a:xfrm>
          <a:prstGeom prst="rect">
            <a:avLst/>
          </a:prstGeom>
          <a:solidFill>
            <a:srgbClr val="7A9870"/>
          </a:solidFill>
          <a:ln>
            <a:solidFill>
              <a:srgbClr val="7A9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0104" y="3072384"/>
            <a:ext cx="2971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1" i="0">
                <a:solidFill>
                  <a:srgbClr val="1F2B34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0104" y="3401568"/>
            <a:ext cx="2971800" cy="7955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80" b="0" i="0">
                <a:solidFill>
                  <a:srgbClr val="5D6972"/>
                </a:solidFill>
                <a:latin typeface="Aptos"/>
              </a:defRPr>
            </a:pPr>
            <a:r>
              <a:t>KPIs, productivity, profitability, quality, health, adherence, recovery and continuous improvement.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572000"/>
            <a:ext cx="10104120" cy="1325880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4572000"/>
            <a:ext cx="1010412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" y="4700016"/>
            <a:ext cx="9829800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350" b="1" i="0">
                <a:solidFill>
                  <a:srgbClr val="1F2B34"/>
                </a:solidFill>
                <a:latin typeface="Aptos"/>
              </a:defRPr>
            </a:pPr>
            <a:r>
              <a:t>Working 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" y="5029200"/>
            <a:ext cx="9829800" cy="79552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30" b="0" i="0">
                <a:solidFill>
                  <a:srgbClr val="5D6972"/>
                </a:solidFill>
                <a:latin typeface="Aptos"/>
              </a:defRPr>
            </a:pPr>
            <a:r>
              <a:t>1. ANALYSE  ·  2. DESIGN  ·  3. PLAN  ·  4. EXECUTE  ·  5. MEASURE  ·  6. OPTIMISE.</a:t>
            </a:r>
          </a:p>
          <a:p>
            <a:pPr>
              <a:spcAft>
                <a:spcPts val="400"/>
              </a:spcAft>
              <a:defRPr sz="1130" b="0" i="0">
                <a:solidFill>
                  <a:srgbClr val="5D6972"/>
                </a:solidFill>
                <a:latin typeface="Aptos"/>
              </a:defRPr>
            </a:pPr>
            <a:r>
              <a:t>Applied by specialism: HOSPITALITY – consistent operations and premium service. TECHNOLOGY – useful systems and automation. SPORT – realistic programmes, progress tracking and sustainable habits.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Spain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p="http://schemas.openxmlformats.org/presentationml/2006/main" xmlns:r="http://schemas.openxmlformats.org/officeDocument/2006/relationships">
  <p:cSld>
    <p:bg>
      <p:bgPr>
        <a:solidFill>
          <a:srgbClr val="F2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>
            <a:off x="-1737360" y="685800"/>
            <a:ext cx="2926080" cy="35661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-1280160" y="841248"/>
            <a:ext cx="2148840" cy="324612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rc 3"/>
          <p:cNvSpPr/>
          <p:nvPr/>
        </p:nvSpPr>
        <p:spPr>
          <a:xfrm>
            <a:off x="9235440" y="137160"/>
            <a:ext cx="2743200" cy="265176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rc 4"/>
          <p:cNvSpPr/>
          <p:nvPr/>
        </p:nvSpPr>
        <p:spPr>
          <a:xfrm>
            <a:off x="7498079" y="5303520"/>
            <a:ext cx="3474720" cy="2011680"/>
          </a:xfrm>
          <a:prstGeom prst="arc">
            <a:avLst/>
          </a:prstGeom>
          <a:noFill/>
          <a:ln w="12700">
            <a:solidFill>
              <a:srgbClr val="DEDA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566928"/>
            <a:ext cx="713232" cy="13716"/>
          </a:xfrm>
          <a:prstGeom prst="rect">
            <a:avLst/>
          </a:prstGeom>
          <a:solidFill>
            <a:srgbClr val="A8833B"/>
          </a:solidFill>
          <a:ln>
            <a:solidFill>
              <a:srgbClr val="A88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484632"/>
            <a:ext cx="374903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1" i="0">
                <a:solidFill>
                  <a:srgbClr val="A8833B"/>
                </a:solidFill>
                <a:latin typeface="Aptos"/>
              </a:defRPr>
            </a:pPr>
            <a:r>
              <a:t>RAMÓN A. CURBALÁN VEGA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493776"/>
            <a:ext cx="1325880" cy="237744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5D6972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63040"/>
            <a:ext cx="10287000" cy="4553712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5669280" cy="146304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2700" b="1" i="0">
                <a:solidFill>
                  <a:srgbClr val="1F2B34"/>
                </a:solidFill>
                <a:latin typeface="Times New Roman"/>
              </a:defRPr>
            </a:pPr>
            <a:r>
              <a:t>PEOPLE, PROCESSES AND TECHNOLOGY</a:t>
            </a:r>
          </a:p>
          <a:p>
            <a:pPr>
              <a:spcAft>
                <a:spcPts val="400"/>
              </a:spcAft>
              <a:defRPr sz="2700" b="1" i="0">
                <a:solidFill>
                  <a:srgbClr val="1F2B34"/>
                </a:solidFill>
                <a:latin typeface="Times New Roman"/>
              </a:defRPr>
            </a:pPr>
            <a:r>
              <a:t>WITH ONE SHARED DIRECTION.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703320"/>
            <a:ext cx="5897880" cy="100584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600" b="0" i="0">
                <a:solidFill>
                  <a:srgbClr val="5D6972"/>
                </a:solidFill>
                <a:latin typeface="Aptos"/>
              </a:defRPr>
            </a:pPr>
            <a:r>
              <a:t>Operations management, applied technology and human performance follow one approach: analyse, plan, execute, measure and improve. Customer experience, system reliability and team performance contribute to the same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074920"/>
            <a:ext cx="9235440" cy="608076"/>
          </a:xfrm>
          <a:prstGeom prst="roundRect">
            <a:avLst>
              <a:gd name="adj" fmla="val 7000"/>
            </a:avLst>
          </a:prstGeom>
          <a:solidFill>
            <a:srgbClr val="FBFBF8"/>
          </a:solidFill>
          <a:ln w="10160"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5840" y="5074920"/>
            <a:ext cx="9235440" cy="32004"/>
          </a:xfrm>
          <a:prstGeom prst="rect">
            <a:avLst/>
          </a:prstGeom>
          <a:solidFill>
            <a:srgbClr val="1F2B34"/>
          </a:solidFill>
          <a:ln>
            <a:solidFill>
              <a:srgbClr val="1F2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52144" y="5202936"/>
            <a:ext cx="8961119" cy="256032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400" b="1" i="0">
                <a:solidFill>
                  <a:srgbClr val="1F2B34"/>
                </a:solidFill>
                <a:latin typeface="Aptos"/>
              </a:defRPr>
            </a:pPr>
            <a:r>
              <a:t>Integrated portfolio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5532120"/>
            <a:ext cx="8961119" cy="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1100" b="0" i="0">
                <a:solidFill>
                  <a:srgbClr val="5D6972"/>
                </a:solidFill>
                <a:latin typeface="Aptos"/>
              </a:defRPr>
            </a:pPr>
            <a:r>
              <a:rPr dirty="0" lang="en-GB"/>
              <a:t>https://raymonchu48.github.io/human-systems-performance/en/   ·   Mallorca, Spain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00800"/>
            <a:ext cx="10972800" cy="9144"/>
          </a:xfrm>
          <a:prstGeom prst="rect">
            <a:avLst/>
          </a:prstGeom>
          <a:solidFill>
            <a:srgbClr val="D9D8D1"/>
          </a:solidFill>
          <a:ln>
            <a:solidFill>
              <a:srgbClr val="D9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464808"/>
            <a:ext cx="566928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400"/>
              </a:spcAft>
              <a:defRPr sz="900" b="0" i="0">
                <a:solidFill>
                  <a:srgbClr val="5D6972"/>
                </a:solidFill>
                <a:latin typeface="Aptos"/>
              </a:defRPr>
            </a:pPr>
            <a:r>
              <a:t>Human · Systems · Performance  |  Mallorca, Spain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46520"/>
            <a:ext cx="365760" cy="18288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5D6972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22" name="Imagen 21">
            <a:extLst>
              <a:ext uri="{FF2B5EF4-FFF2-40B4-BE49-F238E27FC236}">
                <ns2:creationId id="{2F8574EA-BF22-6D9D-79B6-A8B70D31F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18488"/>
            <a:ext cx="4023360" cy="34198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1591</Words>
  <Application>Microsoft Office PowerPoint</Application>
  <PresentationFormat>Panorámica</PresentationFormat>
  <Paragraphs>169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RAMON A. CURBALAN</cp:lastModifiedBy>
  <cp:revision>2</cp:revision>
  <dcterms:created xsi:type="dcterms:W3CDTF">2013-01-27T09:14:16Z</dcterms:created>
  <dcterms:modified xsi:type="dcterms:W3CDTF">2026-10-12T10:58:51Z</dcterms:modified>
  <cp:category/>
</cp:coreProperties>
</file>