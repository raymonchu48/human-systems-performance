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5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ON A. CURBALAN" userId="538114d0d9573049" providerId="LiveId" clId="{76357D2F-4B9C-48E8-BD12-AA0CE24AAF2C}"/>
    <pc:docChg chg="modSld">
      <pc:chgData name="RAMON A. CURBALAN" userId="538114d0d9573049" providerId="LiveId" clId="{76357D2F-4B9C-48E8-BD12-AA0CE24AAF2C}" dt="2026-10-12T10:58:47.569" v="6" actId="1076"/>
      <pc:docMkLst>
        <pc:docMk/>
      </pc:docMkLst>
      <pc:sldChg chg="modSp mod">
        <pc:chgData name="RAMON A. CURBALAN" userId="538114d0d9573049" providerId="LiveId" clId="{76357D2F-4B9C-48E8-BD12-AA0CE24AAF2C}" dt="2026-10-12T10:58:47.569" v="6" actId="1076"/>
        <pc:sldMkLst>
          <pc:docMk/>
          <pc:sldMk cId="0" sldId="261"/>
        </pc:sldMkLst>
        <pc:spChg chg="mod">
          <ac:chgData name="RAMON A. CURBALAN" userId="538114d0d9573049" providerId="LiveId" clId="{76357D2F-4B9C-48E8-BD12-AA0CE24AAF2C}" dt="2026-10-12T10:58:29.916" v="3" actId="14100"/>
          <ac:spMkLst>
            <pc:docMk/>
            <pc:sldMk cId="0" sldId="261"/>
            <ac:spMk id="31" creationId="{00000000-0000-0000-0000-000000000000}"/>
          </ac:spMkLst>
        </pc:spChg>
        <pc:spChg chg="mod">
          <ac:chgData name="RAMON A. CURBALAN" userId="538114d0d9573049" providerId="LiveId" clId="{76357D2F-4B9C-48E8-BD12-AA0CE24AAF2C}" dt="2026-10-12T10:58:35.895" v="4" actId="14100"/>
          <ac:spMkLst>
            <pc:docMk/>
            <pc:sldMk cId="0" sldId="261"/>
            <ac:spMk id="35" creationId="{00000000-0000-0000-0000-000000000000}"/>
          </ac:spMkLst>
        </pc:spChg>
        <pc:spChg chg="mod">
          <ac:chgData name="RAMON A. CURBALAN" userId="538114d0d9573049" providerId="LiveId" clId="{76357D2F-4B9C-48E8-BD12-AA0CE24AAF2C}" dt="2026-10-12T10:58:41.205" v="5" actId="1076"/>
          <ac:spMkLst>
            <pc:docMk/>
            <pc:sldMk cId="0" sldId="261"/>
            <ac:spMk id="39" creationId="{00000000-0000-0000-0000-000000000000}"/>
          </ac:spMkLst>
        </pc:spChg>
        <pc:spChg chg="mod">
          <ac:chgData name="RAMON A. CURBALAN" userId="538114d0d9573049" providerId="LiveId" clId="{76357D2F-4B9C-48E8-BD12-AA0CE24AAF2C}" dt="2026-10-12T10:58:47.569" v="6" actId="1076"/>
          <ac:spMkLst>
            <pc:docMk/>
            <pc:sldMk cId="0" sldId="261"/>
            <ac:spMk id="4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Arc 8"/>
          <p:cNvSpPr/>
          <p:nvPr/>
        </p:nvSpPr>
        <p:spPr>
          <a:xfrm>
            <a:off x="-868680" y="685800"/>
            <a:ext cx="2011680" cy="3566160"/>
          </a:xfrm>
          <a:prstGeom prst="arc">
            <a:avLst/>
          </a:prstGeom>
          <a:noFill/>
          <a:ln w="1397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/>
          <p:cNvSpPr/>
          <p:nvPr/>
        </p:nvSpPr>
        <p:spPr>
          <a:xfrm>
            <a:off x="-548640" y="932688"/>
            <a:ext cx="141732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/>
          <p:cNvSpPr/>
          <p:nvPr/>
        </p:nvSpPr>
        <p:spPr>
          <a:xfrm>
            <a:off x="-320040" y="3977639"/>
            <a:ext cx="2788920" cy="114300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1170432"/>
            <a:ext cx="4663440" cy="6400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4400" b="1" i="0">
                <a:solidFill>
                  <a:srgbClr val="1F2B34"/>
                </a:solidFill>
                <a:latin typeface="Times New Roman"/>
              </a:defRPr>
            </a:pPr>
            <a:r>
              <a:t>PERFIL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84248"/>
            <a:ext cx="5669280" cy="6400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4200" b="1" i="0">
                <a:solidFill>
                  <a:srgbClr val="1F2B34"/>
                </a:solidFill>
                <a:latin typeface="Times New Roman"/>
              </a:defRPr>
            </a:pPr>
            <a:r>
              <a:t>PROFESIONAL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944368"/>
            <a:ext cx="4480560" cy="59436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4100" b="0" i="1">
                <a:solidFill>
                  <a:srgbClr val="1F2B34"/>
                </a:solidFill>
                <a:latin typeface="Times New Roman"/>
              </a:defRPr>
            </a:pPr>
            <a:r>
              <a:t>INTEGRAL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4096512"/>
            <a:ext cx="6400800" cy="6400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HOSTELERÍA &amp; OPERACIONES  ·  TECNOLOGÍA &amp; SISTEMAS  ·</a:t>
            </a:r>
          </a:p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DEPORTE, NUTRICIÓN &amp; RENDIMIENTO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645152"/>
            <a:ext cx="475488" cy="16459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53312" y="4736592"/>
            <a:ext cx="5715000" cy="6400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D6972"/>
                </a:solidFill>
                <a:latin typeface="Aptos"/>
              </a:defRPr>
            </a:pPr>
            <a:r>
              <a:rPr sz="1280" dirty="0"/>
              <a:t>Un </a:t>
            </a:r>
            <a:r>
              <a:rPr sz="1280" dirty="0" err="1"/>
              <a:t>perfil</a:t>
            </a:r>
            <a:r>
              <a:rPr sz="1280" dirty="0"/>
              <a:t> </a:t>
            </a:r>
            <a:r>
              <a:rPr sz="1280" dirty="0" err="1"/>
              <a:t>multidisciplinar</a:t>
            </a:r>
            <a:r>
              <a:rPr sz="1280" dirty="0"/>
              <a:t> </a:t>
            </a:r>
            <a:r>
              <a:rPr sz="1280" dirty="0" err="1"/>
              <a:t>que</a:t>
            </a:r>
            <a:r>
              <a:rPr sz="1280" dirty="0"/>
              <a:t> </a:t>
            </a:r>
            <a:r>
              <a:rPr sz="1280" dirty="0" err="1"/>
              <a:t>conecta</a:t>
            </a:r>
            <a:r>
              <a:rPr sz="1280" dirty="0"/>
              <a:t> </a:t>
            </a:r>
            <a:r>
              <a:rPr sz="1280" dirty="0" err="1"/>
              <a:t>dirección</a:t>
            </a:r>
            <a:r>
              <a:rPr sz="1280" dirty="0"/>
              <a:t> </a:t>
            </a:r>
            <a:r>
              <a:rPr sz="1280" dirty="0" err="1"/>
              <a:t>operativa</a:t>
            </a:r>
            <a:r>
              <a:rPr sz="1280" dirty="0"/>
              <a:t>, </a:t>
            </a:r>
            <a:r>
              <a:rPr sz="1280" dirty="0" err="1"/>
              <a:t>tecnología</a:t>
            </a:r>
            <a:endParaRPr sz="128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D6972"/>
                </a:solidFill>
                <a:latin typeface="Aptos"/>
              </a:defRPr>
            </a:pPr>
            <a:r>
              <a:rPr sz="1280" dirty="0" err="1"/>
              <a:t>aplicada</a:t>
            </a:r>
            <a:r>
              <a:rPr sz="1280" dirty="0"/>
              <a:t> y </a:t>
            </a:r>
            <a:r>
              <a:rPr sz="1280" dirty="0" err="1"/>
              <a:t>rendimiento</a:t>
            </a:r>
            <a:r>
              <a:rPr sz="1280" dirty="0"/>
              <a:t> </a:t>
            </a:r>
            <a:r>
              <a:rPr sz="1280" dirty="0" err="1"/>
              <a:t>humano</a:t>
            </a:r>
            <a:r>
              <a:rPr sz="1280" dirty="0"/>
              <a:t> bajo </a:t>
            </a:r>
            <a:r>
              <a:rPr sz="1280" dirty="0" err="1"/>
              <a:t>una</a:t>
            </a:r>
            <a:r>
              <a:rPr sz="1280" dirty="0"/>
              <a:t> </a:t>
            </a:r>
            <a:r>
              <a:rPr sz="1280" dirty="0" err="1"/>
              <a:t>misma</a:t>
            </a:r>
            <a:r>
              <a:rPr sz="1280" dirty="0"/>
              <a:t> </a:t>
            </a:r>
            <a:r>
              <a:rPr sz="1280" dirty="0" err="1"/>
              <a:t>metodología</a:t>
            </a:r>
            <a:r>
              <a:rPr sz="1280" dirty="0"/>
              <a:t>: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D6972"/>
                </a:solidFill>
                <a:latin typeface="Aptos"/>
              </a:defRPr>
            </a:pPr>
            <a:r>
              <a:rPr sz="1280" dirty="0" err="1"/>
              <a:t>planificar</a:t>
            </a:r>
            <a:r>
              <a:rPr sz="1280" dirty="0"/>
              <a:t>, </a:t>
            </a:r>
            <a:r>
              <a:rPr sz="1280" dirty="0" err="1"/>
              <a:t>ejecutar</a:t>
            </a:r>
            <a:r>
              <a:rPr sz="1280" dirty="0"/>
              <a:t>, </a:t>
            </a:r>
            <a:r>
              <a:rPr sz="1280" dirty="0" err="1"/>
              <a:t>medir</a:t>
            </a:r>
            <a:r>
              <a:rPr sz="1280" dirty="0"/>
              <a:t> y </a:t>
            </a:r>
            <a:r>
              <a:rPr sz="1280" dirty="0" err="1"/>
              <a:t>optimizar</a:t>
            </a:r>
            <a:r>
              <a:rPr sz="1280" dirty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3312" y="5907024"/>
            <a:ext cx="635508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89888" y="5605272"/>
            <a:ext cx="539496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0"/>
              </a:spcAft>
              <a:defRPr sz="1400" b="0" i="0">
                <a:solidFill>
                  <a:srgbClr val="1F2B34"/>
                </a:solidFill>
                <a:latin typeface="Aptos"/>
              </a:defRPr>
            </a:pPr>
            <a:r>
              <a:rPr sz="1260"/>
              <a:t>23+ años de experiencia profesional    |    Mallorca, España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9792" y="502920"/>
            <a:ext cx="3511296" cy="5321808"/>
          </a:xfrm>
          <a:prstGeom prst="roundRect">
            <a:avLst>
              <a:gd name="adj" fmla="val 35000"/>
            </a:avLst>
          </a:prstGeom>
          <a:solidFill>
            <a:srgbClr val="F7F6F2"/>
          </a:solidFill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rc 21"/>
          <p:cNvSpPr/>
          <p:nvPr/>
        </p:nvSpPr>
        <p:spPr>
          <a:xfrm>
            <a:off x="7187184" y="420624"/>
            <a:ext cx="4023360" cy="26974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62272" y="6016752"/>
            <a:ext cx="9144" cy="438912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69480" y="6016752"/>
            <a:ext cx="9144" cy="438912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62456" y="5989320"/>
            <a:ext cx="548640" cy="21945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500" b="0" i="0">
                <a:solidFill>
                  <a:srgbClr val="A8833B"/>
                </a:solidFill>
                <a:latin typeface="Times New Roman"/>
              </a:defRPr>
            </a:pPr>
            <a:r>
              <a:rPr sz="2000" dirty="0"/>
              <a:t>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11096" y="6197346"/>
            <a:ext cx="896112" cy="4800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53312" y="6272784"/>
            <a:ext cx="17373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Times New Roman"/>
              </a:defRPr>
            </a:pPr>
            <a:r>
              <a:rPr sz="1400" dirty="0"/>
              <a:t>HOSTELERÍA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6492240"/>
            <a:ext cx="2468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 dirty="0"/>
              <a:t>F&amp;B · </a:t>
            </a:r>
            <a:r>
              <a:rPr sz="880" dirty="0" err="1"/>
              <a:t>Eventos</a:t>
            </a:r>
            <a:r>
              <a:rPr sz="880" dirty="0"/>
              <a:t> · </a:t>
            </a:r>
            <a:r>
              <a:rPr sz="880" dirty="0" err="1"/>
              <a:t>Banquetes</a:t>
            </a:r>
            <a:r>
              <a:rPr sz="880" dirty="0"/>
              <a:t> ·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 dirty="0" err="1"/>
              <a:t>Operaciones</a:t>
            </a:r>
            <a:r>
              <a:rPr sz="880" dirty="0"/>
              <a:t> · 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6016752"/>
            <a:ext cx="548640" cy="21945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500" b="0" i="0">
                <a:solidFill>
                  <a:srgbClr val="5E8FAE"/>
                </a:solidFill>
                <a:latin typeface="Times New Roman"/>
              </a:defRPr>
            </a:pPr>
            <a:r>
              <a:rPr sz="2000" dirty="0"/>
              <a:t>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45608" y="6190487"/>
            <a:ext cx="905256" cy="54865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0871" y="6272784"/>
            <a:ext cx="17373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Times New Roman"/>
              </a:defRPr>
            </a:pPr>
            <a:r>
              <a:rPr sz="1400" dirty="0"/>
              <a:t>TECNOLOGÍA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6492240"/>
            <a:ext cx="2468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/>
              <a:t>Sistemas · Redes · Seguridad ·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/>
              <a:t>IA · Automatización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6016751"/>
            <a:ext cx="548640" cy="21945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500" b="0" i="0">
                <a:solidFill>
                  <a:srgbClr val="7A9870"/>
                </a:solidFill>
                <a:latin typeface="Times New Roman"/>
              </a:defRPr>
            </a:pPr>
            <a:r>
              <a:rPr sz="2000" dirty="0"/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6208775"/>
            <a:ext cx="914400" cy="45719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25512" y="6291072"/>
            <a:ext cx="146304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Times New Roman"/>
              </a:defRPr>
            </a:pPr>
            <a:r>
              <a:rPr sz="1400" dirty="0"/>
              <a:t>DEPORTE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6" y="6492240"/>
            <a:ext cx="256032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/>
              <a:t>Entrenamiento · Nutrición ·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/>
              <a:t>Hábitos · Bienestar</a:t>
            </a:r>
          </a:p>
        </p:txBody>
      </p:sp>
      <p:pic>
        <p:nvPicPr>
          <p:cNvPr id="37" name="Picture 36" descr="arch_profile_adap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6" y="539496"/>
            <a:ext cx="3456432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RESUMEN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RESUMEN EJECUTIVO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Visión global del perfil y posicionamiento profesional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74519"/>
            <a:ext cx="10104120" cy="105156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74519"/>
            <a:ext cx="101041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200253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Visión 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331720"/>
            <a:ext cx="9829800" cy="521207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60" b="0" i="0">
                <a:solidFill>
                  <a:srgbClr val="5D6972"/>
                </a:solidFill>
                <a:latin typeface="Aptos"/>
              </a:defRPr>
            </a:pPr>
            <a:r>
              <a:t>Ramón Alberto Curbalán Vega reúne tres especialidades profesionales complementarias: dirección de operaciones de hostelería y F&amp;B, tecnología y sistemas aplicados, y deporte/nutrición/rendimiento. Su perfil se caracteriza por integrar personas, procesos, datos y ejecución para convertir objetivos en resultados medibles.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54680"/>
            <a:ext cx="3246120" cy="17830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154680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2826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HOSTELERÍA &amp; OPERACIONES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611880"/>
            <a:ext cx="2971800" cy="12527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23+ años de trayectoria profesional con experiencia en entornos 5★ y 5★ GL. F&amp;B, banquetes, eventos, restauración, logística, servicio, compras, inventario y liderazgo de equipos.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3154680"/>
            <a:ext cx="3246120" cy="17830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0" y="3154680"/>
            <a:ext cx="3246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61104" y="32826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TECNOLOGÍA &amp;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3611880"/>
            <a:ext cx="2971800" cy="12527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Formación y proyectos en sistemas, redes, seguridad, bases de datos, Big Data, IA, desarrollo web, automatización y gestión ágil.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154680"/>
            <a:ext cx="3246120" cy="17830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3154680"/>
            <a:ext cx="3246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0104" y="32826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DEPORTE &amp; RENDIMIENTO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3611880"/>
            <a:ext cx="2971800" cy="12527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Entrenamiento personal, actividades dirigidas, nutrición, natación, bienestar y diseño de experiencias de salud y rendimiento.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212080"/>
            <a:ext cx="10104120" cy="8686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5212080"/>
            <a:ext cx="101041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534009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POSICIONAMIENTO ACTUAL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5669280"/>
            <a:ext cx="9829800" cy="3383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80" b="0" i="0">
                <a:solidFill>
                  <a:srgbClr val="5D6972"/>
                </a:solidFill>
                <a:latin typeface="Aptos"/>
              </a:defRPr>
            </a:pPr>
            <a:r>
              <a:t>Puesto actual: FB Banquet Manager – Capvermell Gran Hotel S.L.U. (marzo 2025 - actualidad).   ·   Áreas objetivo: Dirección F&amp;B / Banquetes &amp; Eventos / Operaciones; Dirección Deportiva / Coordinación; Tecnología aplicada y roles híbridos de transformación.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España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HOSTELERÍA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HOSTELERÍA, F&amp;B Y EVENTOS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Dirección operativa, banquetes, restauración y experiencia de cliente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28800"/>
            <a:ext cx="10104120" cy="1024128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28800"/>
            <a:ext cx="10104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19568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Especialidad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286000"/>
            <a:ext cx="9829800" cy="3383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30" b="0" i="0">
                <a:solidFill>
                  <a:srgbClr val="5D6972"/>
                </a:solidFill>
                <a:latin typeface="Aptos"/>
              </a:defRPr>
            </a:pPr>
            <a:r>
              <a:rPr dirty="0" err="1"/>
              <a:t>Trayectoria</a:t>
            </a:r>
            <a:r>
              <a:rPr dirty="0"/>
              <a:t> </a:t>
            </a:r>
            <a:r>
              <a:rPr dirty="0" err="1"/>
              <a:t>consolidada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hostelería</a:t>
            </a:r>
            <a:r>
              <a:rPr dirty="0"/>
              <a:t> de alto </a:t>
            </a:r>
            <a:r>
              <a:rPr dirty="0" err="1"/>
              <a:t>nivel</a:t>
            </a:r>
            <a:r>
              <a:rPr dirty="0"/>
              <a:t>, </a:t>
            </a:r>
            <a:r>
              <a:rPr dirty="0" err="1"/>
              <a:t>especialmente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F&amp;B, </a:t>
            </a:r>
            <a:r>
              <a:rPr dirty="0" err="1"/>
              <a:t>banquetes</a:t>
            </a:r>
            <a:r>
              <a:rPr dirty="0"/>
              <a:t> y </a:t>
            </a:r>
            <a:r>
              <a:rPr dirty="0" err="1"/>
              <a:t>eventos</a:t>
            </a:r>
            <a:r>
              <a:rPr dirty="0"/>
              <a:t>. El </a:t>
            </a:r>
            <a:r>
              <a:rPr dirty="0" err="1"/>
              <a:t>foco</a:t>
            </a:r>
            <a:r>
              <a:rPr dirty="0"/>
              <a:t> </a:t>
            </a:r>
            <a:r>
              <a:rPr dirty="0" err="1"/>
              <a:t>profesional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fiables</a:t>
            </a:r>
            <a:r>
              <a:rPr dirty="0"/>
              <a:t>: </a:t>
            </a:r>
            <a:r>
              <a:rPr dirty="0" err="1"/>
              <a:t>planificación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, </a:t>
            </a:r>
            <a:r>
              <a:rPr dirty="0" err="1"/>
              <a:t>equipos</a:t>
            </a:r>
            <a:r>
              <a:rPr dirty="0"/>
              <a:t> </a:t>
            </a:r>
            <a:r>
              <a:rPr dirty="0" err="1"/>
              <a:t>dimensionados</a:t>
            </a:r>
            <a:r>
              <a:rPr dirty="0"/>
              <a:t> a la </a:t>
            </a:r>
            <a:r>
              <a:rPr dirty="0" err="1"/>
              <a:t>demanda</a:t>
            </a:r>
            <a:r>
              <a:rPr dirty="0"/>
              <a:t>, </a:t>
            </a:r>
            <a:r>
              <a:rPr dirty="0" err="1"/>
              <a:t>servicio</a:t>
            </a:r>
            <a:r>
              <a:rPr dirty="0"/>
              <a:t> </a:t>
            </a:r>
            <a:r>
              <a:rPr dirty="0" err="1"/>
              <a:t>consistente</a:t>
            </a:r>
            <a:r>
              <a:rPr dirty="0"/>
              <a:t>, control </a:t>
            </a:r>
            <a:r>
              <a:rPr dirty="0" err="1"/>
              <a:t>económico</a:t>
            </a:r>
            <a:r>
              <a:rPr dirty="0"/>
              <a:t> y </a:t>
            </a:r>
            <a:r>
              <a:rPr dirty="0" err="1"/>
              <a:t>coordinación</a:t>
            </a:r>
            <a:r>
              <a:rPr dirty="0"/>
              <a:t> entre </a:t>
            </a:r>
            <a:r>
              <a:rPr dirty="0" err="1"/>
              <a:t>cocina</a:t>
            </a:r>
            <a:r>
              <a:rPr dirty="0"/>
              <a:t>, </a:t>
            </a:r>
            <a:r>
              <a:rPr dirty="0" err="1"/>
              <a:t>recepción</a:t>
            </a:r>
            <a:r>
              <a:rPr dirty="0"/>
              <a:t>, </a:t>
            </a:r>
            <a:r>
              <a:rPr dirty="0" err="1"/>
              <a:t>eventos</a:t>
            </a:r>
            <a:r>
              <a:rPr dirty="0"/>
              <a:t>, </a:t>
            </a:r>
            <a:r>
              <a:rPr dirty="0" err="1"/>
              <a:t>compras</a:t>
            </a:r>
            <a:r>
              <a:rPr dirty="0"/>
              <a:t> y </a:t>
            </a:r>
            <a:r>
              <a:rPr dirty="0" err="1"/>
              <a:t>operaciones</a:t>
            </a:r>
            <a:r>
              <a:rPr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26080"/>
            <a:ext cx="3246120" cy="107899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926080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50" b="1" i="0">
                <a:solidFill>
                  <a:srgbClr val="1F2B34"/>
                </a:solidFill>
                <a:latin typeface="Aptos"/>
              </a:defRPr>
            </a:pPr>
            <a:r>
              <a:t>Diseño, lectura y ejecución de BEO.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383280"/>
            <a:ext cx="2971800" cy="54864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Layouts, montajes, cronogramas y flujos.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926080"/>
            <a:ext cx="3246120" cy="107899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0" y="2926080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61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50" b="1" i="0">
                <a:solidFill>
                  <a:srgbClr val="1F2B34"/>
                </a:solidFill>
                <a:latin typeface="Aptos"/>
              </a:defRPr>
            </a:pPr>
            <a:r>
              <a:rPr dirty="0" err="1"/>
              <a:t>Coordinación</a:t>
            </a:r>
            <a:r>
              <a:rPr dirty="0"/>
              <a:t> </a:t>
            </a:r>
            <a:r>
              <a:rPr dirty="0" err="1"/>
              <a:t>cocina</a:t>
            </a:r>
            <a:r>
              <a:rPr dirty="0"/>
              <a:t> - sala - </a:t>
            </a:r>
            <a:r>
              <a:rPr dirty="0" err="1"/>
              <a:t>eventos</a:t>
            </a:r>
            <a:r>
              <a:rPr dirty="0"/>
              <a:t> - </a:t>
            </a:r>
            <a:r>
              <a:rPr dirty="0" err="1"/>
              <a:t>recepción</a:t>
            </a:r>
            <a:r>
              <a:rPr dirty="0"/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3383280"/>
            <a:ext cx="2971800" cy="439095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endParaRPr lang="es-ES" dirty="0"/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rPr dirty="0"/>
              <a:t>Staffing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picos</a:t>
            </a:r>
            <a:r>
              <a:rPr dirty="0"/>
              <a:t> de </a:t>
            </a:r>
            <a:r>
              <a:rPr dirty="0" err="1"/>
              <a:t>demanda</a:t>
            </a:r>
            <a:r>
              <a:rPr dirty="0"/>
              <a:t> y ratios.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233672"/>
            <a:ext cx="3246120" cy="107899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4233672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" y="4361688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50" b="1" i="0">
                <a:solidFill>
                  <a:srgbClr val="1F2B34"/>
                </a:solidFill>
                <a:latin typeface="Aptos"/>
              </a:defRPr>
            </a:pPr>
            <a:r>
              <a:t>Compras, inventarios, menaje y logística.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4690872"/>
            <a:ext cx="2971800" cy="439095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endParaRPr lang="es-ES" dirty="0"/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rPr dirty="0" err="1"/>
              <a:t>Supervisión</a:t>
            </a:r>
            <a:r>
              <a:rPr dirty="0"/>
              <a:t> de </a:t>
            </a:r>
            <a:r>
              <a:rPr dirty="0" err="1"/>
              <a:t>servicio</a:t>
            </a:r>
            <a:r>
              <a:rPr dirty="0"/>
              <a:t> y </a:t>
            </a:r>
            <a:r>
              <a:rPr dirty="0" err="1"/>
              <a:t>estándares</a:t>
            </a:r>
            <a:r>
              <a:rPr dirty="0"/>
              <a:t> 5★ / 5★ GL.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4233672"/>
            <a:ext cx="3246120" cy="107899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14800" y="4233672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61104" y="4361688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50" b="1" i="0">
                <a:solidFill>
                  <a:srgbClr val="1F2B34"/>
                </a:solidFill>
                <a:latin typeface="Aptos"/>
              </a:defRPr>
            </a:pPr>
            <a:r>
              <a:rPr dirty="0" err="1"/>
              <a:t>Atención</a:t>
            </a:r>
            <a:r>
              <a:rPr dirty="0"/>
              <a:t> al </a:t>
            </a:r>
            <a:r>
              <a:rPr dirty="0" err="1"/>
              <a:t>cliente</a:t>
            </a:r>
            <a:r>
              <a:rPr dirty="0"/>
              <a:t> y </a:t>
            </a:r>
            <a:r>
              <a:rPr dirty="0" err="1"/>
              <a:t>resolución</a:t>
            </a:r>
            <a:r>
              <a:rPr dirty="0"/>
              <a:t> de </a:t>
            </a:r>
            <a:r>
              <a:rPr dirty="0" err="1"/>
              <a:t>incidencias</a:t>
            </a:r>
            <a:r>
              <a:rPr dirty="0"/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61104" y="4690872"/>
            <a:ext cx="2971800" cy="439095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endParaRPr lang="es-ES" dirty="0"/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rPr dirty="0" err="1"/>
              <a:t>Cierres</a:t>
            </a:r>
            <a:r>
              <a:rPr dirty="0"/>
              <a:t>, </a:t>
            </a:r>
            <a:r>
              <a:rPr dirty="0" err="1"/>
              <a:t>consumos</a:t>
            </a:r>
            <a:r>
              <a:rPr dirty="0"/>
              <a:t>, </a:t>
            </a:r>
            <a:r>
              <a:rPr dirty="0" err="1"/>
              <a:t>productividad</a:t>
            </a:r>
            <a:r>
              <a:rPr dirty="0"/>
              <a:t> y </a:t>
            </a:r>
            <a:r>
              <a:rPr dirty="0" err="1"/>
              <a:t>rentabilidad</a:t>
            </a:r>
            <a:r>
              <a:rPr dirty="0"/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43800" y="2926080"/>
            <a:ext cx="3246120" cy="2386584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43800" y="2926080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90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300" b="1" i="0">
                <a:solidFill>
                  <a:srgbClr val="1F2B34"/>
                </a:solidFill>
                <a:latin typeface="Aptos"/>
              </a:defRPr>
            </a:pPr>
            <a:r>
              <a:t>Ciclo operativo aplicado a eventos y F&amp;B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0104" y="3383280"/>
            <a:ext cx="2971800" cy="1856231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50" b="0" i="0">
                <a:solidFill>
                  <a:srgbClr val="5D6972"/>
                </a:solidFill>
                <a:latin typeface="Aptos"/>
              </a:defRPr>
            </a:pPr>
            <a:r>
              <a:rPr dirty="0"/>
              <a:t>1. PLANIFICACIÓN: </a:t>
            </a:r>
            <a:r>
              <a:rPr dirty="0" err="1"/>
              <a:t>objetivo</a:t>
            </a:r>
            <a:r>
              <a:rPr dirty="0"/>
              <a:t>, BEO, layout, </a:t>
            </a:r>
            <a:r>
              <a:rPr dirty="0" err="1"/>
              <a:t>tiempos</a:t>
            </a:r>
            <a:r>
              <a:rPr dirty="0"/>
              <a:t>, </a:t>
            </a:r>
            <a:r>
              <a:rPr dirty="0" err="1"/>
              <a:t>volúmenes</a:t>
            </a:r>
            <a:r>
              <a:rPr dirty="0"/>
              <a:t> y </a:t>
            </a:r>
            <a:r>
              <a:rPr dirty="0" err="1"/>
              <a:t>riesgos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050" b="0" i="0">
                <a:solidFill>
                  <a:srgbClr val="5D6972"/>
                </a:solidFill>
                <a:latin typeface="Aptos"/>
              </a:defRPr>
            </a:pPr>
            <a:r>
              <a:rPr dirty="0"/>
              <a:t>2. RECURSOS: </a:t>
            </a:r>
            <a:r>
              <a:rPr dirty="0" err="1"/>
              <a:t>equipo</a:t>
            </a:r>
            <a:r>
              <a:rPr dirty="0"/>
              <a:t>, </a:t>
            </a:r>
            <a:r>
              <a:rPr dirty="0" err="1"/>
              <a:t>menaje</a:t>
            </a:r>
            <a:r>
              <a:rPr dirty="0"/>
              <a:t>, </a:t>
            </a:r>
            <a:r>
              <a:rPr dirty="0" err="1"/>
              <a:t>compras</a:t>
            </a:r>
            <a:r>
              <a:rPr dirty="0"/>
              <a:t>, </a:t>
            </a:r>
            <a:r>
              <a:rPr dirty="0" err="1"/>
              <a:t>estaciones</a:t>
            </a:r>
            <a:r>
              <a:rPr dirty="0"/>
              <a:t>, barras y BOH.</a:t>
            </a:r>
          </a:p>
          <a:p>
            <a:pPr>
              <a:spcAft>
                <a:spcPts val="400"/>
              </a:spcAft>
              <a:defRPr sz="1050" b="0" i="0">
                <a:solidFill>
                  <a:srgbClr val="5D6972"/>
                </a:solidFill>
                <a:latin typeface="Aptos"/>
              </a:defRPr>
            </a:pPr>
            <a:r>
              <a:rPr dirty="0"/>
              <a:t>3. EJECUCIÓN: briefing, </a:t>
            </a:r>
            <a:r>
              <a:rPr dirty="0" err="1"/>
              <a:t>secuencia</a:t>
            </a:r>
            <a:r>
              <a:rPr dirty="0"/>
              <a:t> de </a:t>
            </a:r>
            <a:r>
              <a:rPr dirty="0" err="1"/>
              <a:t>servicio</a:t>
            </a:r>
            <a:r>
              <a:rPr dirty="0"/>
              <a:t>, </a:t>
            </a:r>
            <a:r>
              <a:rPr dirty="0" err="1"/>
              <a:t>coordinación</a:t>
            </a:r>
            <a:r>
              <a:rPr dirty="0"/>
              <a:t> </a:t>
            </a:r>
            <a:r>
              <a:rPr dirty="0" err="1"/>
              <a:t>minuto</a:t>
            </a:r>
            <a:r>
              <a:rPr dirty="0"/>
              <a:t> a </a:t>
            </a:r>
            <a:r>
              <a:rPr dirty="0" err="1"/>
              <a:t>minuto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050" b="0" i="0">
                <a:solidFill>
                  <a:srgbClr val="5D6972"/>
                </a:solidFill>
                <a:latin typeface="Aptos"/>
              </a:defRPr>
            </a:pPr>
            <a:r>
              <a:rPr dirty="0"/>
              <a:t>4. MONITOREO: </a:t>
            </a:r>
            <a:r>
              <a:rPr dirty="0" err="1"/>
              <a:t>calidad</a:t>
            </a:r>
            <a:r>
              <a:rPr dirty="0"/>
              <a:t>, </a:t>
            </a:r>
            <a:r>
              <a:rPr dirty="0" err="1"/>
              <a:t>tiempos</a:t>
            </a:r>
            <a:r>
              <a:rPr dirty="0"/>
              <a:t>, </a:t>
            </a:r>
            <a:r>
              <a:rPr dirty="0" err="1"/>
              <a:t>consumos</a:t>
            </a:r>
            <a:r>
              <a:rPr dirty="0"/>
              <a:t>, </a:t>
            </a:r>
            <a:r>
              <a:rPr dirty="0" err="1"/>
              <a:t>incidencias</a:t>
            </a:r>
            <a:r>
              <a:rPr dirty="0"/>
              <a:t> y </a:t>
            </a:r>
            <a:r>
              <a:rPr dirty="0" err="1"/>
              <a:t>experiencia</a:t>
            </a:r>
            <a:r>
              <a:rPr dirty="0"/>
              <a:t> del </a:t>
            </a:r>
            <a:r>
              <a:rPr dirty="0" err="1"/>
              <a:t>cliente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050" b="0" i="0">
                <a:solidFill>
                  <a:srgbClr val="5D6972"/>
                </a:solidFill>
                <a:latin typeface="Aptos"/>
              </a:defRPr>
            </a:pPr>
            <a:r>
              <a:rPr dirty="0"/>
              <a:t>5. CIERRE y 6. MEJORA: </a:t>
            </a:r>
            <a:r>
              <a:rPr dirty="0" err="1"/>
              <a:t>inventario</a:t>
            </a:r>
            <a:r>
              <a:rPr dirty="0"/>
              <a:t>, </a:t>
            </a:r>
            <a:r>
              <a:rPr dirty="0" err="1"/>
              <a:t>costes</a:t>
            </a:r>
            <a:r>
              <a:rPr dirty="0"/>
              <a:t>, KPI y </a:t>
            </a:r>
            <a:r>
              <a:rPr dirty="0" err="1"/>
              <a:t>aprendizajes</a:t>
            </a:r>
            <a:r>
              <a:rPr dirty="0"/>
              <a:t>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España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TECNOLOGÍA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TECNOLOGÍA, SISTEMAS Y AUTOMATIZACIÓN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Formación técnica, desarrollo aplicado y transformación digital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28800"/>
            <a:ext cx="10104120" cy="8686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28800"/>
            <a:ext cx="10104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19568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Perfil tecnológico aplicado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286000"/>
            <a:ext cx="9829800" cy="3383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30" b="0" i="0">
                <a:solidFill>
                  <a:srgbClr val="5D6972"/>
                </a:solidFill>
                <a:latin typeface="Aptos"/>
              </a:defRPr>
            </a:pPr>
            <a:r>
              <a:t>La especialidad tecnológica se apoya en formación técnica y en proyectos reales desarrollados para resolver necesidades concretas: autenticación, bases de datos, automatización, aplicaciones web, seguridad, contenidos digitales y despliegues.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80360"/>
            <a:ext cx="3246120" cy="1481328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80360"/>
            <a:ext cx="3246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00837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SISTEMAS &amp; REDES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337560"/>
            <a:ext cx="2971800" cy="95097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Redes departamentales, virtualización, direccionamiento, NAT/Bridged, VPN, monitorización y diagnóstico.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880360"/>
            <a:ext cx="3246120" cy="1481328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0" y="2880360"/>
            <a:ext cx="3246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61104" y="300837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3337560"/>
            <a:ext cx="2971800" cy="95097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Seguridad informática, Nmap, buenas prácticas de acceso, OAuth, control de permisos y entornos de producción.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880360"/>
            <a:ext cx="3246120" cy="1481328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2880360"/>
            <a:ext cx="3246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0104" y="300837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DATOS &amp;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3337560"/>
            <a:ext cx="2971800" cy="95097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Big Data e IA, bases de datos, análisis de información, automatización y asistentes integrados en aplicaciones.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17720"/>
            <a:ext cx="10104120" cy="1385316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4617720"/>
            <a:ext cx="10104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474573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350" b="1" i="0">
                <a:solidFill>
                  <a:srgbClr val="1F2B34"/>
                </a:solidFill>
                <a:latin typeface="Aptos"/>
              </a:defRPr>
            </a:pPr>
            <a:r>
              <a:t>Tecnologías y entornos trabajados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074920"/>
            <a:ext cx="9829800" cy="74980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40" b="0" i="0">
                <a:solidFill>
                  <a:srgbClr val="5D6972"/>
                </a:solidFill>
                <a:latin typeface="Aptos"/>
              </a:defRPr>
            </a:pPr>
            <a:r>
              <a:t>DESARROLLO: HTML, CSS, JavaScript, Python, FastAPI, SPA/PWA.</a:t>
            </a:r>
          </a:p>
          <a:p>
            <a:pPr>
              <a:spcAft>
                <a:spcPts val="400"/>
              </a:spcAft>
              <a:defRPr sz="1140" b="0" i="0">
                <a:solidFill>
                  <a:srgbClr val="5D6972"/>
                </a:solidFill>
                <a:latin typeface="Aptos"/>
              </a:defRPr>
            </a:pPr>
            <a:r>
              <a:t>BASES DE DATOS: PostgreSQL / Supabase, SQLite / SQLAlchemy, MySQL, SQL Server, MongoDB.</a:t>
            </a:r>
          </a:p>
          <a:p>
            <a:pPr>
              <a:spcAft>
                <a:spcPts val="400"/>
              </a:spcAft>
              <a:defRPr sz="1140" b="0" i="0">
                <a:solidFill>
                  <a:srgbClr val="5D6972"/>
                </a:solidFill>
                <a:latin typeface="Aptos"/>
              </a:defRPr>
            </a:pPr>
            <a:r>
              <a:t>INFRAESTRUCTURA / CLOUD: Windows, Linux, Kali, máquinas virtuales, Git, GitHub Pages, Vercel, dominios y OAuth.</a:t>
            </a:r>
          </a:p>
          <a:p>
            <a:pPr>
              <a:spcAft>
                <a:spcPts val="400"/>
              </a:spcAft>
              <a:defRPr sz="1140" b="0" i="0">
                <a:solidFill>
                  <a:srgbClr val="5D6972"/>
                </a:solidFill>
                <a:latin typeface="Aptos"/>
              </a:defRPr>
            </a:pPr>
            <a:r>
              <a:t>GESTIÓN: Agile Project Management y Scrum.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España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DEPORTE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DEPORTE, NUTRICIÓN Y RENDIMIENTO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Entrenamiento, hábitos, bienestar y acompañamiento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28800"/>
            <a:ext cx="10104120" cy="8686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28800"/>
            <a:ext cx="10104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19568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Especialidad deportiva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286000"/>
            <a:ext cx="9829800" cy="3383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30" b="0" i="0">
                <a:solidFill>
                  <a:srgbClr val="5D6972"/>
                </a:solidFill>
                <a:latin typeface="Aptos"/>
              </a:defRPr>
            </a:pPr>
            <a:r>
              <a:t>Experiencia y formación orientadas al entrenamiento, la salud y el rendimiento, con capacidad para trabajar tanto con usuarios individuales como con grupos y colectivos de distintas edades. El enfoque combina planificación del ejercicio, nutrición, hábitos, seguimiento y motivación.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26080"/>
            <a:ext cx="3246120" cy="150876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926080"/>
            <a:ext cx="3246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ENTRENAMIENTO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383280"/>
            <a:ext cx="2971800" cy="978407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Entrenador personal, entrenamiento funcional, fuerza, actividades dirigidas y planificación por objetivos.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926080"/>
            <a:ext cx="3246120" cy="150876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0" y="2926080"/>
            <a:ext cx="3246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61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NUTRICIÓN &amp; HÁBITOS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3383280"/>
            <a:ext cx="2971800" cy="978407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Formación como técnico nutricionista, educación de hábitos, seguimiento y construcción de planes integrados.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926080"/>
            <a:ext cx="3246120" cy="150876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2926080"/>
            <a:ext cx="3246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0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COLECTIVOS &amp; AGUA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3383280"/>
            <a:ext cx="2971800" cy="978407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Natación para distintas edades, socorrismo, Pilates, yoga, taichí y trabajo con tercera edad.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81728"/>
            <a:ext cx="10104120" cy="121615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4681728"/>
            <a:ext cx="10104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4809744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350" b="1" i="0">
                <a:solidFill>
                  <a:srgbClr val="1F2B34"/>
                </a:solidFill>
                <a:latin typeface="Aptos"/>
              </a:defRPr>
            </a:pPr>
            <a:r>
              <a:t>Modelo de trabajo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5138928"/>
            <a:ext cx="9829800" cy="6858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t>VALORACIÓN · PLANIFICACIÓN · EJECUCIÓN · SEGUIMIENTO · OPTIMIZACIÓN. Chetesaí Fitness+ materializa esta especialidad en una plataforma privada de nutrición, entrenamiento y hábitos con interfaz de clientes y panel profesional.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España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PROYECTOS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PROYECTOS Y ECOSISTEMA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Iniciativas propias que conectan las tres especialidades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920240"/>
            <a:ext cx="4617720" cy="141732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920240"/>
            <a:ext cx="46177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204825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CHETESAÍ FITNESS+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37744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Deporte + tecnología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Plataforma de nutrición, entrenamiento y hábitos con panel profesional, Supabase, OAuth, galería de ejercicios, contenidos multimedia y asistente 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1920240"/>
            <a:ext cx="4617720" cy="141732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0" y="1920240"/>
            <a:ext cx="46177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32704" y="204825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OPOSTUDY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2704" y="237744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Tecnología + formación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Aplicación para preparación TAI con simulacros, preguntas, prácticos, seguimiento de errores, estadísticas y contenidos técnicos.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11880"/>
            <a:ext cx="4617720" cy="141732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611880"/>
            <a:ext cx="46177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" y="373989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FARMAGEND 24/7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406908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Innovación + automatización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Centro híbrido físico-digital con dispensación automatizada, brazo robótico, app, e-commerce, IA e inventario inteligente.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3611880"/>
            <a:ext cx="4617720" cy="141732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0" y="3611880"/>
            <a:ext cx="46177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32704" y="373989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CATERING MALLORCA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2704" y="406908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Hostelería + eventos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Concepto de catering para fincas privadas en Mallorca con estructura de equipo, transporte, material, carta, bebidas y branding.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303520"/>
            <a:ext cx="4617720" cy="1220724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5303520"/>
            <a:ext cx="46177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543153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FITNESS BUS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576072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Deporte + operaciones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Servicio itinerante de clases de funcional, Pilates, yoga y tercera edad con modelo de reservas, bonos y pagos digitales.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5303520"/>
            <a:ext cx="4617720" cy="1225296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0" y="5303520"/>
            <a:ext cx="46177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32704" y="543153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PORTFOLIOS PROFESIONALES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32704" y="576072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Marca personal + tecnología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Portfolios especializados de tecnología, deporte y hostelería, además del portfolio integral Human - Systems - Performance.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651322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6708941"/>
            <a:ext cx="5394960" cy="193899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rPr dirty="0"/>
              <a:t>Human · Systems · Performance  |  Mallorca, España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FORMACIÓN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FORMACIÓN Y CERTIFICACIONES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Base técnica, gestión de proyectos, hostelería y deporte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28800"/>
            <a:ext cx="10104120" cy="100584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28800"/>
            <a:ext cx="10104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19568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HOSTELERÍA Y OPERACIONES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286000"/>
            <a:ext cx="9829800" cy="47548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t>HOTR064PO. · HOTR040PO. · Formación y equivalencias vinculadas a HOTR0409. · Experiencia aplicada en dirección de banquetes, restauración, eventos y operaciones F&amp;B.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10104120" cy="91440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63240"/>
            <a:ext cx="10104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19125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TECNOLOGÍA Y SISTEMAS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520440"/>
            <a:ext cx="9829800" cy="38404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t>IFCT0410 - Redes Departamentales. · IFCT101PO - Seguridad Informática. · IFCT159 - Big Data e Inteligencia Artificial. · Formación en redes, electrónica, sistemas, bases de datos y entornos virtualizados.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06240"/>
            <a:ext cx="10104120" cy="91440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206240"/>
            <a:ext cx="101041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" y="4334255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GESTIÓN DE PROYECTOS Y DIGITALIZACIÓN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4663440"/>
            <a:ext cx="9829800" cy="38404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t>ADGD347PO - Agile Project Management. · ADG348PO - Agile Project Management / Scrum. · Generación Digital PYMES - EAE, 375 horas. · Trabajos y proyectos académicos en dirección estratégica, Scrum, Kanban y transformación digital.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49240"/>
            <a:ext cx="10104120" cy="91440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5349240"/>
            <a:ext cx="10104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" y="5477255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DEPORTE, NUTRICIÓN Y BIENESTAR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5806440"/>
            <a:ext cx="9829800" cy="38404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t>Formación como técnico nutricionista. · Entrenador personal. · Técnico en salas polivalentes. · Monitor de Pilates, yoga y taichí para tercera edad. · Socorrista y experiencia en natación para distintas edades.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España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METODOLOGÍA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METODOLOGÍA Y PROPUESTA DE VALOR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Cómo se integran Human - Systems - 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28800"/>
            <a:ext cx="10104120" cy="8686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28800"/>
            <a:ext cx="101041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19568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Una misma lógica para tres disciplinas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286000"/>
            <a:ext cx="9829800" cy="3383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20" b="0" i="0">
                <a:solidFill>
                  <a:srgbClr val="5D6972"/>
                </a:solidFill>
                <a:latin typeface="Aptos"/>
              </a:defRPr>
            </a:pPr>
            <a:r>
              <a:t>La ventaja diferencial del perfil no consiste únicamente en acumular tres áreas de conocimiento, sino en utilizar una misma estructura mental para resolver problemas en contextos distintos: entender a las personas, diseñar sistemas de trabajo y medir el rendimiento.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44368"/>
            <a:ext cx="3246120" cy="13258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944368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072384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Aptos"/>
              </a:defRPr>
            </a:pPr>
            <a:r>
              <a:t>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401568"/>
            <a:ext cx="2971800" cy="7955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80" b="0" i="0">
                <a:solidFill>
                  <a:srgbClr val="5D6972"/>
                </a:solidFill>
                <a:latin typeface="Aptos"/>
              </a:defRPr>
            </a:pPr>
            <a:r>
              <a:t>Liderazgo, comunicación, servicio, experiencia del cliente, coaching, motivación y adaptación a personas y equipos.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944368"/>
            <a:ext cx="3246120" cy="13258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0" y="2944368"/>
            <a:ext cx="3246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61104" y="3072384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Aptos"/>
              </a:defRPr>
            </a:pPr>
            <a:r>
              <a:t>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3401568"/>
            <a:ext cx="2971800" cy="7955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80" b="0" i="0">
                <a:solidFill>
                  <a:srgbClr val="5D6972"/>
                </a:solidFill>
                <a:latin typeface="Aptos"/>
              </a:defRPr>
            </a:pPr>
            <a:r>
              <a:t>Procesos, planificación, datos, tecnología, seguridad, automatización, documentación y control.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944368"/>
            <a:ext cx="3246120" cy="13258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2944368"/>
            <a:ext cx="3246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0104" y="3072384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3401568"/>
            <a:ext cx="2971800" cy="7955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80" b="0" i="0">
                <a:solidFill>
                  <a:srgbClr val="5D6972"/>
                </a:solidFill>
                <a:latin typeface="Aptos"/>
              </a:defRPr>
            </a:pPr>
            <a:r>
              <a:t>KPI, productividad, rentabilidad, calidad, salud, adherencia, recuperación y mejora continua.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572000"/>
            <a:ext cx="10104120" cy="13258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4572000"/>
            <a:ext cx="101041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47000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350" b="1" i="0">
                <a:solidFill>
                  <a:srgbClr val="1F2B34"/>
                </a:solidFill>
                <a:latin typeface="Aptos"/>
              </a:defRPr>
            </a:pPr>
            <a:r>
              <a:t>Framework de trabajo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5029200"/>
            <a:ext cx="9829800" cy="7955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30" b="0" i="0">
                <a:solidFill>
                  <a:srgbClr val="5D6972"/>
                </a:solidFill>
                <a:latin typeface="Aptos"/>
              </a:defRPr>
            </a:pPr>
            <a:r>
              <a:t>1. ANALIZAR  ·  2. DISEÑAR  ·  3. PLANIFICAR  ·  4. EJECUTAR  ·  5. MEDIR  ·  6. OPTIMIZAR.</a:t>
            </a:r>
          </a:p>
          <a:p>
            <a:pPr>
              <a:spcAft>
                <a:spcPts val="400"/>
              </a:spcAft>
              <a:defRPr sz="1130" b="0" i="0">
                <a:solidFill>
                  <a:srgbClr val="5D6972"/>
                </a:solidFill>
                <a:latin typeface="Aptos"/>
              </a:defRPr>
            </a:pPr>
            <a:r>
              <a:t>Aplicación por especialidad: HOSTELERÍA – operaciones consistentes y servicio premium. TECNOLOGÍA – sistemas útiles y automatización. DEPORTE – programas realistas, seguimiento y hábitos sostenibles.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España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63040"/>
            <a:ext cx="10287000" cy="455371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5669280" cy="146304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700" b="1" i="0">
                <a:solidFill>
                  <a:srgbClr val="1F2B34"/>
                </a:solidFill>
                <a:latin typeface="Times New Roman"/>
              </a:defRPr>
            </a:pPr>
            <a:r>
              <a:t>PERSONAS, PROCESOS Y TECNOLOGÍA</a:t>
            </a:r>
          </a:p>
          <a:p>
            <a:pPr>
              <a:spcAft>
                <a:spcPts val="400"/>
              </a:spcAft>
              <a:defRPr sz="2700" b="1" i="0">
                <a:solidFill>
                  <a:srgbClr val="1F2B34"/>
                </a:solidFill>
                <a:latin typeface="Times New Roman"/>
              </a:defRPr>
            </a:pPr>
            <a:r>
              <a:t>BAJO UNA MISMA DIRECCIÓN.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703320"/>
            <a:ext cx="5897880" cy="100584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5D6972"/>
                </a:solidFill>
                <a:latin typeface="Aptos"/>
              </a:defRPr>
            </a:pPr>
            <a:r>
              <a:t>Dirección operativa, tecnología aplicada y rendimiento humano con una misma lógica: analizar, planificar, ejecutar, medir y mejorar. La experiencia del cliente, la fiabilidad del sistema y el rendimiento del equipo forman parte del mismo resultado.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074920"/>
            <a:ext cx="9235440" cy="608076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5840" y="5074920"/>
            <a:ext cx="923544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5202936"/>
            <a:ext cx="896111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Portfolio integral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5532120"/>
            <a:ext cx="8961119" cy="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972"/>
                </a:solidFill>
                <a:latin typeface="Aptos"/>
              </a:defRPr>
            </a:pPr>
            <a:r>
              <a:rPr dirty="0"/>
              <a:t>https://raymonchu48.github.io/human-systems-performance/   ·   Mallorca, España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España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F8574EA-BF22-6D9D-79B6-A8B70D31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18488"/>
            <a:ext cx="4023360" cy="34198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1591</Words>
  <Application>Microsoft Office PowerPoint</Application>
  <PresentationFormat>Panorámica</PresentationFormat>
  <Paragraphs>169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RAMON A. CURBALAN</cp:lastModifiedBy>
  <cp:revision>2</cp:revision>
  <dcterms:created xsi:type="dcterms:W3CDTF">2013-01-27T09:14:16Z</dcterms:created>
  <dcterms:modified xsi:type="dcterms:W3CDTF">2026-10-12T10:58:51Z</dcterms:modified>
  <cp:category/>
</cp:coreProperties>
</file>